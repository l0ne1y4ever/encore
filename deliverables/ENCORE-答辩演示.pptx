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12 秒</a:t>
            </a:r>
          </a:p>
          <a:p/>
          <a:p>
            <a:r>
              <a:t>各位老师好。我们是张东旭团队，作品是 ENCORE——一套为现场演出而生的全栈票务系统。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20 秒</a:t>
            </a:r>
          </a:p>
          <a:p/>
          <a:p>
            <a:r>
              <a:t>一句话认识 ENCORE：它打通了演出发布、在线购票、电子票、现场检票到运营分析的完整闭环。需要强调：五个环节全部由真实后端驱动，不是界面原型。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8 秒</a:t>
            </a:r>
          </a:p>
          <a:p/>
          <a:p>
            <a:r>
              <a:t>汇报分四部分：项目背景、团队介绍、产品展示、总结体会。产品展示是今天的重点。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4 秒</a:t>
            </a:r>
          </a:p>
          <a:p/>
          <a:p>
            <a:r>
              <a:t>第一部分，项目背景。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14 秒</a:t>
            </a:r>
          </a:p>
          <a:p/>
          <a:p>
            <a:r>
              <a:t>产品立意一句话：把大平台级的购票体验带给中小场馆。大麦这类平台服务头部演出，而中小剧场和校园场馆还停留在纸质票和手工登记——ENCORE 为后者而生。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24 秒</a:t>
            </a:r>
          </a:p>
          <a:p/>
          <a:p>
            <a:r>
              <a:t>客户需求来自三个真实痛点：一，手工售票慢且易错；二，没有库存锁定，热门场次会超卖；三，经营失明，没有任何数据。所以客户要的不是一个购票网页，而是一条完整的票务业务链。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16 秒</a:t>
            </a:r>
          </a:p>
          <a:p/>
          <a:p>
            <a:r>
              <a:t>目标人群覆盖购票链路上的每个人：观众、检票员、运营管理员、系统管理员——四种角色各有独立的工作台与权限边界。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4 秒</a:t>
            </a:r>
          </a:p>
          <a:p/>
          <a:p>
            <a:r>
              <a:t>第二部分，团队介绍。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24 秒</a:t>
            </a:r>
          </a:p>
          <a:p/>
          <a:p>
            <a:r>
              <a:t>我们按核心用例分工，每人主理一条线：组长张东旭负责总体设计、UI 与交互，以及所有用例的优化完善与二次开发；王新龙负责演出排片——演出管理、场馆布局与排片冲突校验；王嘉晖负责可视化选座与库存并发、实时同步；程维鑫负责订单与支付、电子票和退款；薛嘉亮负责检票核销、数据看板与票房财务；袁艺玮负责拼座邀请、推荐、员工账号与部署运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22 秒</a:t>
            </a:r>
          </a:p>
          <a:p/>
          <a:p>
            <a:r>
              <a:t>开发分三段：五月中旬打通基础购票闭环；五月下旬做差异化——实时座位、3D、拼座、看板；六月转向治理——排片模型、退款工作流、财务审计与安全加固。全程 71 次提交，每个功能都走开发、测试、实测、日志归档的循环。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4 秒</a:t>
            </a:r>
          </a:p>
          <a:p/>
          <a:p>
            <a:r>
              <a:t>第三部分，产品展示——今天的重点。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16 秒</a:t>
            </a:r>
          </a:p>
          <a:p/>
          <a:p>
            <a:r>
              <a:t>产品功能总览：可视化选座、多形态售票、实时同步、拼座、退款工作流、运营控制台——六个功能覆盖一场演出从上架到复盘的全生命周期。接下来逐个看。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24 秒</a:t>
            </a:r>
          </a:p>
          <a:p/>
          <a:p>
            <a:r>
              <a:t>第一个功能，可视化选座。座位图按票价三档自动配色，图例就是价目表；两侧行号、上下列号双标尺定位；点击选中即锁定 15 分钟，超时自动释放——既给用户确定性，也不让座位被无限占用。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16 秒</a:t>
            </a:r>
          </a:p>
          <a:p/>
          <a:p>
            <a:r>
              <a:t>选座的另一半是 3D 剧场：three.js 实时渲染整个观众厅，双击任何一个座位，镜头会飞到那个座位上，让你先看一眼真实视野再决定买不买。3D 和 2D 的座位状态实时互通。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24 秒</a:t>
            </a:r>
          </a:p>
          <a:p/>
          <a:p>
            <a:r>
              <a:t>第二个功能，多形态售票。剧场影院用对号入座；演唱会内场用区域站席，按区买一到四张，库存原子扣减防超卖；体育场是混合模式，站席和看台坐席同场共存。右边是手绘 SVG 体育场图，点亮的区域可以直接点进去。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24 秒</a:t>
            </a:r>
          </a:p>
          <a:p/>
          <a:p>
            <a:r>
              <a:t>第三个功能，实时同步——演示环节最直观的一幕。用户 A 锁座的瞬间，Redis 记下座位锁、STOMP 向全场广播，用户 B 的同一个座位立刻变灰。系统定义了 13 种座位与库存事件，驱动选座图、管理库存页、数据看板三个界面实时刷新，断线 5 秒自动重连。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24 秒</a:t>
            </a:r>
          </a:p>
          <a:p/>
          <a:p>
            <a:r>
              <a:t>第四个功能，拼座。发起人创建拼座拿到邀请链接，好友打开链接各自认领座位，发起人统一结算。关键设计是持票人机制：支付完成后票随人走，每个成员在自己的票夹里看到自己的票，也只能退自己那张。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22 秒</a:t>
            </a:r>
          </a:p>
          <a:p/>
          <a:p>
            <a:r>
              <a:t>第五个功能，退款工作流，规则贴近真实票务：开演两小时前自助秒退，票作废、座位即时回库存；临近开演转人工审核，管理员批准或驳回并附意见，已核销的票不可退。支持整单退和按票退，拼座成员只能退自己那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24 秒</a:t>
            </a:r>
          </a:p>
          <a:p/>
          <a:p>
            <a:r>
              <a:t>第六个功能，运营控制台。左：实时数据看板，支付退款发生时自动刷新；中：票房财务，按时间、类别、演出三个维度对账并导出 CSV；右：操作审计——后台每一次变更都被拦截器自动留痕，系统管理员可查。排片采用场馆-厅-布局三级模型，同厅档期冲突自动拦截。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16 秒</a:t>
            </a:r>
          </a:p>
          <a:p/>
          <a:p>
            <a:r>
              <a:t>使用说明非常简单：登录、挑演出、选座或选区、支付出票、票夹检票，五步走完。三种演示账号——观众 user、管理 admin、检票 checker，密码都是 123。界面中英双语，零培训上手。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28 秒</a:t>
            </a:r>
          </a:p>
          <a:p/>
          <a:p>
            <a:r>
              <a:t>支撑这一切的是四层架构：Vue3 前端；Sa-Token 鉴权闸门加审计拦截器的接入层；Spring Boot 13 个业务服务；MySQL 加 Redis 的数据层，结构由 Flyway 八个版本演进管理。防超卖三件套：Redis 座位锁、库存原子扣减、事务回滚自动释放锁——并发正确性是设计出来的，不是测出来的。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14 秒</a:t>
            </a:r>
          </a:p>
          <a:p/>
          <a:p>
            <a:r>
              <a:t>质量用数字说话：111 项单元测试，66 个接口，16 张数据表，数据库经历 8 个版本演进。文档与代码同步交付：需求规格、设计说明书、用户手册、测试报告齐套。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12 秒</a:t>
            </a:r>
          </a:p>
          <a:p/>
          <a:p>
            <a:r>
              <a:t>接下来进入程序展示环节。【若现场允许演示：切到真实系统，按动线走——双屏实时同步、拼座、支付出票、扫码核销、看板刷新，约三分钟。】【若流程不允许：口述这条动线，强调每一步在刚才的截图里都有对应，然后进入愿景。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10 秒</a:t>
            </a:r>
          </a:p>
          <a:p/>
          <a:p>
            <a:r>
              <a:t>产品愿景：让每一个小场馆都能办一场不输大平台的演出。下一步方向是多租户 SaaS 化、接入真实支付与短信、移动端检票一体机。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4 秒</a:t>
            </a:r>
          </a:p>
          <a:p/>
          <a:p>
            <a:r>
              <a:t>最后一部分，总结与体会。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24 秒</a:t>
            </a:r>
          </a:p>
          <a:p/>
          <a:p>
            <a:r>
              <a:t>总结：我们交付的不止是代码——可运行系统、一键部署、SRS、设计说明书、手册、测试报告齐套。三点工程体会：一，真相源原则，每类数据只认一个权威来源，并发正确性由此而来；二，鉴权要纵深防御；三，文档驱动开发，71 次提交全程可回溯。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 约 6 秒</a:t>
            </a:r>
          </a:p>
          <a:p/>
          <a:p>
            <a:r>
              <a:t>我的汇报到此结束，谢谢各位老师，欢迎提问。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720840" y="-1965960"/>
            <a:ext cx="5943600" cy="5943600"/>
          </a:xfrm>
          <a:prstGeom prst="ellipse">
            <a:avLst/>
          </a:prstGeom>
          <a:solidFill>
            <a:srgbClr val="E50914">
              <a:alpha val="50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188720" y="3931920"/>
            <a:ext cx="4572000" cy="45720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642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600" b="1">
                <a:solidFill>
                  <a:srgbClr val="1D1D1F"/>
                </a:solidFill>
                <a:latin typeface="Segoe UI"/>
                <a:ea typeface="微软雅黑"/>
              </a:rPr>
              <a:t>ENCORE</a:t>
            </a:r>
            <a:r>
              <a:rPr sz="96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"/>
                <a:ea typeface="微软雅黑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22191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0">
                <a:solidFill>
                  <a:srgbClr val="6E6E73"/>
                </a:solidFill>
                <a:latin typeface="微软雅黑 Light"/>
                <a:ea typeface="微软雅黑 Light"/>
              </a:rPr>
              <a:t>为现场演出而生的全栈票务系统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软件工程课程设计 II · 张东旭 团队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6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2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41080" y="3337560"/>
            <a:ext cx="5029200" cy="5029200"/>
          </a:xfrm>
          <a:prstGeom prst="ellipse">
            <a:avLst/>
          </a:prstGeom>
          <a:solidFill>
            <a:srgbClr val="E50914">
              <a:alpha val="40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4400" b="0">
                <a:solidFill>
                  <a:srgbClr val="1D1D1F"/>
                </a:solidFill>
                <a:latin typeface="微软雅黑 Light"/>
                <a:ea typeface="微软雅黑 Light"/>
              </a:rPr>
              <a:t>从发布到核销，</a:t>
            </a:r>
          </a:p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4400" b="0">
                <a:solidFill>
                  <a:srgbClr val="1D1D1F"/>
                </a:solidFill>
                <a:latin typeface="微软雅黑 Light"/>
                <a:ea typeface="微软雅黑 Light"/>
              </a:rPr>
              <a:t>一条</a:t>
            </a:r>
            <a:r>
              <a:rPr sz="44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微软雅黑"/>
                <a:ea typeface="微软雅黑"/>
              </a:rPr>
              <a:t>完整可用</a:t>
            </a:r>
            <a:r>
              <a:rPr sz="4400" b="0">
                <a:solidFill>
                  <a:srgbClr val="1D1D1F"/>
                </a:solidFill>
                <a:latin typeface="微软雅黑 Light"/>
                <a:ea typeface="微软雅黑 Light"/>
              </a:rPr>
              <a:t>的业务闭环。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23360"/>
            <a:ext cx="1874519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演出发布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79" y="4023360"/>
            <a:ext cx="3108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08375" y="4023360"/>
            <a:ext cx="1874519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08375" y="402336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在线购票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2894" y="4023360"/>
            <a:ext cx="3108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93790" y="4023360"/>
            <a:ext cx="1874519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0" y="402336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电子票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8309" y="4023360"/>
            <a:ext cx="3108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205" y="4023360"/>
            <a:ext cx="1874519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5" y="402336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现场检票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3724" y="4023360"/>
            <a:ext cx="31089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64620" y="4023360"/>
            <a:ext cx="1874519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64620" y="402336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运营分析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五个环节全部由真实后端驱动 —— 数据库、缓存、消息，一个不少。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02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5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45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5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60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75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75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90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05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05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35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35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50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43000" y="-1143000"/>
            <a:ext cx="4114800" cy="41148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今天讲四件事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40280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50914"/>
                </a:solidFill>
                <a:latin typeface="Segoe UI Light"/>
                <a:ea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25856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D1D1F"/>
                </a:solidFill>
                <a:latin typeface="微软雅黑"/>
                <a:ea typeface="微软雅黑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386584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E73"/>
                </a:solidFill>
                <a:latin typeface="微软雅黑"/>
                <a:ea typeface="微软雅黑"/>
              </a:rPr>
              <a:t>产品立意 · 客户需求 · 目标人群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27832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50914"/>
                </a:solidFill>
                <a:latin typeface="Segoe UI Light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246120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D1D1F"/>
                </a:solidFill>
                <a:latin typeface="微软雅黑"/>
                <a:ea typeface="微软雅黑"/>
              </a:rPr>
              <a:t>团队介绍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3374136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E73"/>
                </a:solidFill>
                <a:latin typeface="微软雅黑"/>
                <a:ea typeface="微软雅黑"/>
              </a:rPr>
              <a:t>成员分工 · 开发历程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15384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50914"/>
                </a:solidFill>
                <a:latin typeface="Segoe UI Light"/>
                <a:ea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233672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D1D1F"/>
                </a:solidFill>
                <a:latin typeface="微软雅黑"/>
                <a:ea typeface="微软雅黑"/>
              </a:rPr>
              <a:t>产品展示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4361688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E73"/>
                </a:solidFill>
                <a:latin typeface="微软雅黑"/>
                <a:ea typeface="微软雅黑"/>
              </a:rPr>
              <a:t>功能 · 使用说明 · 核心技术 · 程序展示 · 愿景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202936"/>
            <a:ext cx="1097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>
                <a:solidFill>
                  <a:srgbClr val="E50914"/>
                </a:solidFill>
                <a:latin typeface="Segoe UI Light"/>
                <a:ea typeface="微软雅黑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221224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D1D1F"/>
                </a:solidFill>
                <a:latin typeface="微软雅黑"/>
                <a:ea typeface="微软雅黑"/>
              </a:rPr>
              <a:t>总结体会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534924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E73"/>
                </a:solidFill>
                <a:latin typeface="微软雅黑"/>
                <a:ea typeface="微软雅黑"/>
              </a:rPr>
              <a:t>交付物 · 工程体会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03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4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14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8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8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2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42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42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56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56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56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85455" y="-1280160"/>
            <a:ext cx="4754880" cy="4754880"/>
          </a:xfrm>
          <a:prstGeom prst="ellipse">
            <a:avLst/>
          </a:prstGeom>
          <a:solidFill>
            <a:srgbClr val="E50914">
              <a:alpha val="4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0" y="91440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30000" b="1">
                <a:solidFill>
                  <a:srgbClr val="F0F0F2"/>
                </a:solidFill>
                <a:latin typeface="Segoe UI Light"/>
                <a:ea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50914"/>
                </a:solidFill>
                <a:latin typeface="Segoe UI Light"/>
                <a:ea typeface="微软雅黑"/>
              </a:rPr>
              <a:t>01  </a:t>
            </a:r>
            <a:r>
              <a:rPr sz="4000" b="0">
                <a:solidFill>
                  <a:srgbClr val="1D1D1F"/>
                </a:solidFill>
                <a:latin typeface="微软雅黑 Light"/>
                <a:ea typeface="微软雅黑 Light"/>
              </a:rPr>
              <a:t>项目背景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94760"/>
            <a:ext cx="566928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00507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E6E73"/>
                </a:solidFill>
                <a:latin typeface="微软雅黑"/>
                <a:ea typeface="微软雅黑"/>
              </a:rPr>
              <a:t>产品立意 · 客户需求 · 目标人群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04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6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46720" y="-1463040"/>
            <a:ext cx="5486400" cy="5486400"/>
          </a:xfrm>
          <a:prstGeom prst="ellipse">
            <a:avLst/>
          </a:prstGeom>
          <a:solidFill>
            <a:srgbClr val="E50914">
              <a:alpha val="4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01 项目背景 · 产品立意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4600" b="0">
                <a:solidFill>
                  <a:srgbClr val="1D1D1F"/>
                </a:solidFill>
                <a:latin typeface="微软雅黑 Light"/>
                <a:ea typeface="微软雅黑 Light"/>
              </a:rPr>
              <a:t>把</a:t>
            </a:r>
            <a:r>
              <a:rPr sz="46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微软雅黑"/>
                <a:ea typeface="微软雅黑"/>
              </a:rPr>
              <a:t>大平台级</a:t>
            </a:r>
            <a:r>
              <a:rPr sz="4600" b="0">
                <a:solidFill>
                  <a:srgbClr val="1D1D1F"/>
                </a:solidFill>
                <a:latin typeface="微软雅黑 Light"/>
                <a:ea typeface="微软雅黑 Light"/>
              </a:rPr>
              <a:t>的购票体验，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4600" b="0">
                <a:solidFill>
                  <a:srgbClr val="1D1D1F"/>
                </a:solidFill>
                <a:latin typeface="微软雅黑 Light"/>
                <a:ea typeface="微软雅黑 Light"/>
              </a:rPr>
              <a:t>带给中小场馆。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7091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0">
                <a:solidFill>
                  <a:srgbClr val="6E6E73"/>
                </a:solidFill>
                <a:latin typeface="微软雅黑"/>
                <a:ea typeface="微软雅黑"/>
              </a:rPr>
              <a:t>大麦们服务头部演唱会；中小剧场和校园场馆，仍停留在纸质票与手工登记。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ENCORE 为后者而生。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05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2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44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3749040"/>
            <a:ext cx="4572000" cy="45720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01 项目背景 · 客户需求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>
                <a:solidFill>
                  <a:srgbClr val="1D1D1F"/>
                </a:solidFill>
                <a:latin typeface="微软雅黑 Light"/>
                <a:ea typeface="微软雅黑 Light"/>
              </a:rPr>
              <a:t>三个真实存在的经营之痛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960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624328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D1D1F"/>
                </a:solidFill>
                <a:latin typeface="微软雅黑"/>
                <a:ea typeface="微软雅黑"/>
              </a:rPr>
              <a:t>手工售票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715768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纸质票与电话登记并存，高峰期排长队，出错率高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75304"/>
            <a:ext cx="960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593592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D1D1F"/>
                </a:solidFill>
                <a:latin typeface="微软雅黑"/>
                <a:ea typeface="微软雅黑"/>
              </a:rPr>
              <a:t>超卖事故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685032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没有统一库存与锁定机制，热门场次一座多卖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44568"/>
            <a:ext cx="960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562856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1D1D1F"/>
                </a:solidFill>
                <a:latin typeface="微软雅黑"/>
                <a:ea typeface="微软雅黑"/>
              </a:rPr>
              <a:t>经营失明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4654296"/>
            <a:ext cx="6949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卖了多少、谁来核销、哪场最热 —— 全靠感觉，没有数据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7150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E6E73"/>
                </a:solidFill>
                <a:latin typeface="微软雅黑"/>
                <a:ea typeface="微软雅黑"/>
              </a:rPr>
              <a:t>所以客户要的不是一个购票网页，而是</a:t>
            </a: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一条完整的票务业务链。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06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8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2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2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2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6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56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56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0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371600"/>
            <a:ext cx="4572000" cy="4572000"/>
          </a:xfrm>
          <a:prstGeom prst="ellipse">
            <a:avLst/>
          </a:prstGeom>
          <a:solidFill>
            <a:srgbClr val="E50914">
              <a:alpha val="40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01 项目背景 · 目标人群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>
                <a:solidFill>
                  <a:srgbClr val="1D1D1F"/>
                </a:solidFill>
                <a:latin typeface="微软雅黑 Light"/>
                <a:ea typeface="微软雅黑 Light"/>
              </a:rPr>
              <a:t>购票链路上的每一个人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2697480" cy="237744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907792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29584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观众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41648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选座购票 · 拼座邀请
电子票 · 自助退票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4448" y="2606040"/>
            <a:ext cx="2697480" cy="237744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858768" y="2907792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3529584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检票员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4041648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扫码核销 · 场次绑定
时间窗校验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28816" y="2606040"/>
            <a:ext cx="2697480" cy="237744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03136" y="2907792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03136" y="3529584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运营管理员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4041648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排片库存 · 退款审核
票房财务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3184" y="2606040"/>
            <a:ext cx="2697480" cy="237744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47504" y="2907792"/>
            <a:ext cx="457200" cy="457200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47504" y="3529584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系统管理员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47504" y="4041648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员工账号
操作审计日志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一套系统四种角色，每个人都有自己的工作台。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07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8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8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2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2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42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42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56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56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56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56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70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70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0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70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84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85455" y="-1280160"/>
            <a:ext cx="4754880" cy="4754880"/>
          </a:xfrm>
          <a:prstGeom prst="ellipse">
            <a:avLst/>
          </a:prstGeom>
          <a:solidFill>
            <a:srgbClr val="E50914">
              <a:alpha val="4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0" y="91440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30000" b="1">
                <a:solidFill>
                  <a:srgbClr val="F0F0F2"/>
                </a:solidFill>
                <a:latin typeface="Segoe UI Light"/>
                <a:ea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50914"/>
                </a:solidFill>
                <a:latin typeface="Segoe UI Light"/>
                <a:ea typeface="微软雅黑"/>
              </a:rPr>
              <a:t>02  </a:t>
            </a:r>
            <a:r>
              <a:rPr sz="4000" b="0">
                <a:solidFill>
                  <a:srgbClr val="1D1D1F"/>
                </a:solidFill>
                <a:latin typeface="微软雅黑 Light"/>
                <a:ea typeface="微软雅黑 Light"/>
              </a:rPr>
              <a:t>团队介绍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94760"/>
            <a:ext cx="566928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00507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E6E73"/>
                </a:solidFill>
                <a:latin typeface="微软雅黑"/>
                <a:ea typeface="微软雅黑"/>
              </a:rPr>
              <a:t>成员分工 · 开发历程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08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6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80" y="-1737360"/>
            <a:ext cx="4572000" cy="45720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02 团队介绍 · 成员与分工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>
                <a:solidFill>
                  <a:srgbClr val="1D1D1F"/>
                </a:solidFill>
                <a:latin typeface="微软雅黑 Light"/>
                <a:ea typeface="微软雅黑 Light"/>
              </a:rPr>
              <a:t>每人主理一组核心用例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520440" cy="157276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" y="2898648"/>
            <a:ext cx="804672" cy="804672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026664"/>
            <a:ext cx="804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27889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张东旭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5376" y="3264408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组长 · 总体设计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UI 交互 · 登录鉴权 · 全用例优化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2514600"/>
            <a:ext cx="3520440" cy="157276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898648"/>
            <a:ext cx="804672" cy="80467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3026664"/>
            <a:ext cx="804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6984" y="27889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王新龙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86984" y="3264408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D1D1F"/>
                </a:solidFill>
                <a:latin typeface="微软雅黑"/>
                <a:ea typeface="微软雅黑"/>
              </a:rPr>
              <a:t>演出与排片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演出管理 · 场馆布局 · 排片冲突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514600"/>
            <a:ext cx="3520440" cy="157276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9328" y="2898648"/>
            <a:ext cx="804672" cy="80467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3026664"/>
            <a:ext cx="804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78892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王嘉晖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3264408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D1D1F"/>
                </a:solidFill>
                <a:latin typeface="微软雅黑"/>
                <a:ea typeface="微软雅黑"/>
              </a:rPr>
              <a:t>选座与并发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2D/3D 选座 · 库存并发 · 实时同步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97680"/>
            <a:ext cx="3520440" cy="157276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4681728"/>
            <a:ext cx="804672" cy="80467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809744"/>
            <a:ext cx="804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5376" y="457200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程维鑫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65376" y="5047488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D1D1F"/>
                </a:solidFill>
                <a:latin typeface="微软雅黑"/>
                <a:ea typeface="微软雅黑"/>
              </a:rPr>
              <a:t>订单与支付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下单 · 模拟支付 · 电子票 · 退款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4297680"/>
            <a:ext cx="3520440" cy="157276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17720" y="4681728"/>
            <a:ext cx="804672" cy="80467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809744"/>
            <a:ext cx="804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86984" y="457200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薛嘉亮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86984" y="5047488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D1D1F"/>
                </a:solidFill>
                <a:latin typeface="微软雅黑"/>
                <a:ea typeface="微软雅黑"/>
              </a:rPr>
              <a:t>核销与数据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检票核销 · 数据看板 · 票房财务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4297680"/>
            <a:ext cx="3520440" cy="157276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39328" y="4681728"/>
            <a:ext cx="804672" cy="804672"/>
          </a:xfrm>
          <a:prstGeom prst="ellipse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8" y="4809744"/>
            <a:ext cx="804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457200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袁艺玮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5047488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1D1D1F"/>
                </a:solidFill>
                <a:latin typeface="微软雅黑"/>
                <a:ea typeface="微软雅黑"/>
              </a:rPr>
              <a:t>拼座与平台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拼座邀请 · 推荐 · 员工账号 · 部署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09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1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2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2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2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2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33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33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33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33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33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44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44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44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44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44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55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55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550"/>
                      </p:stCondLst>
                      <p:childTnLst>
                        <p:par>
                          <p:cTn id="9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2" dur="45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550"/>
                      </p:stCondLst>
                      <p:childTnLst>
                        <p:par>
                          <p:cTn id="10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450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7" dur="45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550"/>
                      </p:stCondLst>
                      <p:childTnLst>
                        <p:par>
                          <p:cTn id="10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2" dur="45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660"/>
                      </p:stCondLst>
                      <p:childTnLst>
                        <p:par>
                          <p:cTn id="1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450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7" dur="45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660"/>
                      </p:stCondLst>
                      <p:childTnLst>
                        <p:par>
                          <p:cTn id="1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450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2" dur="45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66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450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7" dur="45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660"/>
                      </p:stCondLst>
                      <p:childTnLst>
                        <p:par>
                          <p:cTn id="1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2" dur="45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66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450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7" dur="45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770"/>
                      </p:stCondLst>
                      <p:childTnLst>
                        <p:par>
                          <p:cTn id="1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450"/>
                                  <p:tgtEl>
                                    <p:spTgt spid="3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2" dur="450" fill="hold"/>
                                  <p:tgtEl>
                                    <p:spTgt spid="3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770"/>
                      </p:stCondLst>
                      <p:childTnLst>
                        <p:par>
                          <p:cTn id="1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6" dur="450"/>
                                  <p:tgtEl>
                                    <p:spTgt spid="3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7" dur="450" fill="hold"/>
                                  <p:tgtEl>
                                    <p:spTgt spid="3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770"/>
                      </p:stCondLst>
                      <p:childTnLst>
                        <p:par>
                          <p:cTn id="1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3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52" dur="450" fill="hold"/>
                                  <p:tgtEl>
                                    <p:spTgt spid="3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770"/>
                      </p:stCondLst>
                      <p:childTnLst>
                        <p:par>
                          <p:cTn id="1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6" dur="450"/>
                                  <p:tgtEl>
                                    <p:spTgt spid="3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57" dur="450" fill="hold"/>
                                  <p:tgtEl>
                                    <p:spTgt spid="3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770"/>
                      </p:stCondLst>
                      <p:childTnLst>
                        <p:par>
                          <p:cTn id="1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450"/>
                                  <p:tgtEl>
                                    <p:spTgt spid="3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62" dur="450" fill="hold"/>
                                  <p:tgtEl>
                                    <p:spTgt spid="3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43000" y="-960120"/>
            <a:ext cx="4114800" cy="41148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02 团队介绍 · 开发历程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600" b="0">
                <a:solidFill>
                  <a:srgbClr val="1D1D1F"/>
                </a:solidFill>
                <a:latin typeface="微软雅黑 Light"/>
                <a:ea typeface="微软雅黑 Light"/>
              </a:rPr>
              <a:t>三段式迭代，</a:t>
            </a:r>
            <a:r>
              <a:rPr sz="36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71</a:t>
            </a:r>
            <a:r>
              <a:rPr sz="3600" b="0">
                <a:solidFill>
                  <a:srgbClr val="1D1D1F"/>
                </a:solidFill>
                <a:latin typeface="微软雅黑 Light"/>
                <a:ea typeface="微软雅黑 Light"/>
              </a:rPr>
              <a:t> 次提交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035808"/>
            <a:ext cx="10469880" cy="25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23160" y="2944368"/>
            <a:ext cx="164592" cy="164592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50914"/>
                </a:solidFill>
                <a:latin typeface="微软雅黑"/>
                <a:ea typeface="微软雅黑"/>
              </a:rPr>
              <a:t>5 月中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D1D1F"/>
                </a:solidFill>
                <a:latin typeface="微软雅黑"/>
                <a:ea typeface="微软雅黑"/>
              </a:rPr>
              <a:t>基础闭环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登录注册 · 演出浏览 · 锁座下单
模拟支付 · 电子票 · 扫码核销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0" y="2944368"/>
            <a:ext cx="164592" cy="164592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395728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50914"/>
                </a:solidFill>
                <a:latin typeface="微软雅黑"/>
                <a:ea typeface="微软雅黑"/>
              </a:rPr>
              <a:t>5 月下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101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D1D1F"/>
                </a:solidFill>
                <a:latin typeface="微软雅黑"/>
                <a:ea typeface="微软雅黑"/>
              </a:rPr>
              <a:t>差异化体验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840480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WebSocket 实时座位 · 3D 选座
拼座邀请 · Top8 推荐 · 数据看板</a:t>
            </a:r>
          </a:p>
        </p:txBody>
      </p:sp>
      <p:sp>
        <p:nvSpPr>
          <p:cNvPr id="15" name="Oval 14"/>
          <p:cNvSpPr/>
          <p:nvPr/>
        </p:nvSpPr>
        <p:spPr>
          <a:xfrm>
            <a:off x="9464040" y="2944368"/>
            <a:ext cx="164592" cy="164592"/>
          </a:xfrm>
          <a:prstGeom prst="ellipse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395728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E50914"/>
                </a:solidFill>
                <a:latin typeface="微软雅黑"/>
                <a:ea typeface="微软雅黑"/>
              </a:rPr>
              <a:t>6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310128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D1D1F"/>
                </a:solidFill>
                <a:latin typeface="微软雅黑"/>
                <a:ea typeface="微软雅黑"/>
              </a:rPr>
              <a:t>治理与打磨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840480"/>
            <a:ext cx="3246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场馆排片模型 · 退款工作流
财务票房 · 审计日志 · 安全加固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每个功能循环：开发 → 单元测试 → 双浏览器实测 → 开发日志归档。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10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2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42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2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2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6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6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56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56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0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0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0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70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84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85455" y="-1280160"/>
            <a:ext cx="4754880" cy="4754880"/>
          </a:xfrm>
          <a:prstGeom prst="ellipse">
            <a:avLst/>
          </a:prstGeom>
          <a:solidFill>
            <a:srgbClr val="E50914">
              <a:alpha val="4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0" y="91440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30000" b="1">
                <a:solidFill>
                  <a:srgbClr val="F0F0F2"/>
                </a:solidFill>
                <a:latin typeface="Segoe UI Light"/>
                <a:ea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50914"/>
                </a:solidFill>
                <a:latin typeface="Segoe UI Light"/>
                <a:ea typeface="微软雅黑"/>
              </a:rPr>
              <a:t>03  </a:t>
            </a:r>
            <a:r>
              <a:rPr sz="4000" b="0">
                <a:solidFill>
                  <a:srgbClr val="1D1D1F"/>
                </a:solidFill>
                <a:latin typeface="微软雅黑 Light"/>
                <a:ea typeface="微软雅黑 Light"/>
              </a:rPr>
              <a:t>产品展示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94760"/>
            <a:ext cx="566928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00507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E6E73"/>
                </a:solidFill>
                <a:latin typeface="微软雅黑"/>
                <a:ea typeface="微软雅黑"/>
              </a:rPr>
              <a:t>产品功能 · 使用说明 · 核心技术 · 程序展示 · 产品愿景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11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6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58200" y="3703320"/>
            <a:ext cx="5029200" cy="5029200"/>
          </a:xfrm>
          <a:prstGeom prst="ellipse">
            <a:avLst/>
          </a:prstGeom>
          <a:solidFill>
            <a:srgbClr val="E50914">
              <a:alpha val="40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0">
                <a:solidFill>
                  <a:srgbClr val="1D1D1F"/>
                </a:solidFill>
                <a:latin typeface="微软雅黑 Light"/>
                <a:ea typeface="微软雅黑 Light"/>
              </a:rPr>
              <a:t>六个功能，覆盖一场演出的全生命周期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95728"/>
            <a:ext cx="3520440" cy="1700784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523744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E50914"/>
                </a:solidFill>
                <a:latin typeface="Segoe UI Light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962656"/>
            <a:ext cx="3081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可视化选座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419856"/>
            <a:ext cx="308152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2D 票价分档座位图
3D 剧场观演视角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395728"/>
            <a:ext cx="3520440" cy="1700784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2523744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6E6E73"/>
                </a:solidFill>
                <a:latin typeface="Segoe UI Light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962656"/>
            <a:ext cx="3081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多形态售票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3419856"/>
            <a:ext cx="308152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对号入座 · 区域站席
体育场混合模式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395728"/>
            <a:ext cx="3520440" cy="1700784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23744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E50914"/>
                </a:solidFill>
                <a:latin typeface="Segoe UI Light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62656"/>
            <a:ext cx="3081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实时同步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419856"/>
            <a:ext cx="308152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WebSocket 秒级广播
座位状态全场一致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79392"/>
            <a:ext cx="3520440" cy="1700784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4074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E50914"/>
                </a:solidFill>
                <a:latin typeface="Segoe UI Light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846320"/>
            <a:ext cx="3081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拼座邀请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303520"/>
            <a:ext cx="308152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链接邀请 · 各自认领
统一结算 · 各自持票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61688" y="4279392"/>
            <a:ext cx="3520440" cy="1700784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44074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6E6E73"/>
                </a:solidFill>
                <a:latin typeface="Segoe UI Light"/>
                <a:ea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846320"/>
            <a:ext cx="3081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退款工作流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1144" y="5303520"/>
            <a:ext cx="308152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开演前自助秒退
临近开演人工审核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4279392"/>
            <a:ext cx="3520440" cy="1700784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4407408"/>
            <a:ext cx="1097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6E6E73"/>
                </a:solidFill>
                <a:latin typeface="Segoe UI Light"/>
                <a:ea typeface="微软雅黑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846320"/>
            <a:ext cx="30815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运营控制台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303520"/>
            <a:ext cx="3081528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实时看板 · 票房财务
操作审计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12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1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2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2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2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2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33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33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33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33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44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44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44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44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55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55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55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55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66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660"/>
                      </p:stCondLst>
                      <p:childTnLst>
                        <p:par>
                          <p:cTn id="9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2" dur="45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660"/>
                      </p:stCondLst>
                      <p:childTnLst>
                        <p:par>
                          <p:cTn id="10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450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7" dur="45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660"/>
                      </p:stCondLst>
                      <p:childTnLst>
                        <p:par>
                          <p:cTn id="10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2" dur="45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770"/>
                      </p:stCondLst>
                      <p:childTnLst>
                        <p:par>
                          <p:cTn id="1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450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7" dur="45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770"/>
                      </p:stCondLst>
                      <p:childTnLst>
                        <p:par>
                          <p:cTn id="1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450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2" dur="45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77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450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7" dur="45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770"/>
                      </p:stCondLst>
                      <p:childTnLst>
                        <p:par>
                          <p:cTn id="1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2" dur="45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17320" y="-1325880"/>
            <a:ext cx="4114800" cy="41148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产品功能 ① 可视化选座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挑座位，看得清、选得准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86000"/>
            <a:ext cx="7406640" cy="4586859"/>
          </a:xfrm>
          <a:prstGeom prst="roundRect">
            <a:avLst>
              <a:gd name="adj" fmla="val 4500"/>
            </a:avLst>
          </a:prstGeom>
          <a:solidFill>
            <a:srgbClr val="1D1D1F"/>
          </a:solidFill>
          <a:ln>
            <a:noFill/>
          </a:ln>
          <a:effectLst>
            <a:outerShdw blurRad="310896" dist="10972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13432"/>
            <a:ext cx="7351776" cy="338328"/>
          </a:xfrm>
          <a:prstGeom prst="roundRect">
            <a:avLst>
              <a:gd name="adj" fmla="val 50000"/>
            </a:avLst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40944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40944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43584" y="240944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15768" y="2372868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2363724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9A9F"/>
                </a:solidFill>
                <a:latin typeface="Segoe UI"/>
                <a:ea typeface="微软雅黑"/>
              </a:rPr>
              <a:t>encore.local/seat/opera-house</a:t>
            </a:r>
          </a:p>
        </p:txBody>
      </p:sp>
      <p:pic>
        <p:nvPicPr>
          <p:cNvPr id="13" name="Picture 12" descr="seat-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51760"/>
            <a:ext cx="7351776" cy="413537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321040" y="2670048"/>
            <a:ext cx="82296" cy="7132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7072" y="260604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票价分档配色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3017520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三档票价自动着色，图例即价目表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3877056"/>
            <a:ext cx="82296" cy="7132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38130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行列双标尺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4224528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两侧行号 + 上下列号，定位不出错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5084064"/>
            <a:ext cx="82296" cy="7132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7072" y="502005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15 分钟锁座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5431536"/>
            <a:ext cx="3154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选中即锁，超时未付自动释放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13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8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8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8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28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28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42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42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42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56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56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56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0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70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70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产品功能 ① 可视化选座 /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双击任意座位，</a:t>
            </a:r>
            <a:r>
              <a:rPr sz="34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微软雅黑"/>
                <a:ea typeface="微软雅黑"/>
              </a:rPr>
              <a:t>预览真实视野。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37360" y="2212848"/>
            <a:ext cx="8686800" cy="5306949"/>
          </a:xfrm>
          <a:prstGeom prst="roundRect">
            <a:avLst>
              <a:gd name="adj" fmla="val 4500"/>
            </a:avLst>
          </a:prstGeom>
          <a:solidFill>
            <a:srgbClr val="1D1D1F"/>
          </a:solidFill>
          <a:ln>
            <a:noFill/>
          </a:ln>
          <a:effectLst>
            <a:outerShdw blurRad="310896" dist="10972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64792" y="2240280"/>
            <a:ext cx="8631936" cy="338328"/>
          </a:xfrm>
          <a:prstGeom prst="roundRect">
            <a:avLst>
              <a:gd name="adj" fmla="val 50000"/>
            </a:avLst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38528" y="2336292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76272" y="2336292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414016" y="2336292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2299716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229057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9A9F"/>
                </a:solidFill>
                <a:latin typeface="Segoe UI"/>
                <a:ea typeface="微软雅黑"/>
              </a:rPr>
              <a:t>encore.local/seat — 3D 效果预览</a:t>
            </a:r>
          </a:p>
        </p:txBody>
      </p:sp>
      <p:pic>
        <p:nvPicPr>
          <p:cNvPr id="12" name="Picture 11" descr="seat-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578608"/>
            <a:ext cx="8631936" cy="485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37360" y="7629525"/>
            <a:ext cx="8686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6E73"/>
                </a:solidFill>
                <a:latin typeface="微软雅黑"/>
                <a:ea typeface="微软雅黑"/>
              </a:rPr>
              <a:t>three.js 实时渲染 · 拖拽旋转 · 滚轮缩放 · 与 2D 座位图状态实时互通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14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40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0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40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0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0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0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40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40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60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产品功能 ② 多形态售票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一套系统，三种售票形态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212848"/>
            <a:ext cx="7452360" cy="4612576"/>
          </a:xfrm>
          <a:prstGeom prst="roundRect">
            <a:avLst>
              <a:gd name="adj" fmla="val 4500"/>
            </a:avLst>
          </a:prstGeom>
          <a:solidFill>
            <a:srgbClr val="1D1D1F"/>
          </a:solidFill>
          <a:ln>
            <a:noFill/>
          </a:ln>
          <a:effectLst>
            <a:outerShdw blurRad="310896" dist="10972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87952" y="2240280"/>
            <a:ext cx="7397496" cy="338328"/>
          </a:xfrm>
          <a:prstGeom prst="roundRect">
            <a:avLst>
              <a:gd name="adj" fmla="val 50000"/>
            </a:avLst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61688" y="2336292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2336292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37176" y="2336292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32220" y="2299716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2220" y="2290572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9A9F"/>
                </a:solidFill>
                <a:latin typeface="Segoe UI"/>
                <a:ea typeface="微软雅黑"/>
              </a:rPr>
              <a:t>encore.local/seat/galaxy-arena — 混合票</a:t>
            </a:r>
          </a:p>
        </p:txBody>
      </p:sp>
      <p:pic>
        <p:nvPicPr>
          <p:cNvPr id="12" name="Picture 11" descr="sta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578608"/>
            <a:ext cx="7397496" cy="416109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2377440"/>
            <a:ext cx="3383280" cy="129844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2374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50914"/>
                </a:solidFill>
                <a:latin typeface="Segoe UI"/>
                <a:ea typeface="微软雅黑"/>
              </a:rPr>
              <a:t>SEATED</a:t>
            </a: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   对号入座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944368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剧场 / 影院
逐座挑选，精确到排号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03904"/>
            <a:ext cx="3383280" cy="129844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5020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50914"/>
                </a:solidFill>
                <a:latin typeface="Segoe UI"/>
                <a:ea typeface="微软雅黑"/>
              </a:rPr>
              <a:t>ZONED</a:t>
            </a: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   区域站席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370832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演唱会内场
按区购 1–4 张，原子扣库存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230368"/>
            <a:ext cx="3383280" cy="1298448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3766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E50914"/>
                </a:solidFill>
                <a:latin typeface="Segoe UI"/>
                <a:ea typeface="微软雅黑"/>
              </a:rPr>
              <a:t>MIXED</a:t>
            </a: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   混合模式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797296"/>
            <a:ext cx="2971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体育场
内场站席 + 看台坐席同场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15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8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8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8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28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28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42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42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42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56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56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56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0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70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70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11880" y="3886200"/>
            <a:ext cx="5029200" cy="5029200"/>
          </a:xfrm>
          <a:prstGeom prst="ellipse">
            <a:avLst/>
          </a:prstGeom>
          <a:solidFill>
            <a:srgbClr val="E50914">
              <a:alpha val="40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产品功能 ③ 实时同步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别人选了哪个座，</a:t>
            </a:r>
            <a:r>
              <a:rPr sz="34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微软雅黑"/>
                <a:ea typeface="微软雅黑"/>
              </a:rPr>
              <a:t>你的屏幕秒级可见。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697480"/>
            <a:ext cx="22860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用户 A 锁定座位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697480"/>
            <a:ext cx="3291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66744" y="2697480"/>
            <a:ext cx="22860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6744" y="269748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Redis 座位锁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52744" y="2697480"/>
            <a:ext cx="3291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697480"/>
            <a:ext cx="22860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69748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STOMP 广播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2697480"/>
            <a:ext cx="32918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7112" y="2697480"/>
            <a:ext cx="22860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7112" y="2697480"/>
            <a:ext cx="2286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用户 B 即时变灰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069080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6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36752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微软雅黑"/>
                <a:ea typeface="微软雅黑"/>
              </a:rPr>
              <a:t>种座位 / 库存事件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069080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6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36752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微软雅黑"/>
                <a:ea typeface="微软雅黑"/>
              </a:rPr>
              <a:t>个实时刷新界面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069080"/>
            <a:ext cx="3200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6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5s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36752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微软雅黑"/>
                <a:ea typeface="微软雅黑"/>
              </a:rPr>
              <a:t>断线自动重连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16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8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42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56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6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70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84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4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98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12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12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26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26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40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140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154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154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产品功能 ④ 拼座邀请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一起看，</a:t>
            </a:r>
            <a:r>
              <a:rPr sz="34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微软雅黑"/>
                <a:ea typeface="微软雅黑"/>
              </a:rPr>
              <a:t>分开持票。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286000"/>
            <a:ext cx="7406640" cy="4586859"/>
          </a:xfrm>
          <a:prstGeom prst="roundRect">
            <a:avLst>
              <a:gd name="adj" fmla="val 4500"/>
            </a:avLst>
          </a:prstGeom>
          <a:solidFill>
            <a:srgbClr val="1D1D1F"/>
          </a:solidFill>
          <a:ln>
            <a:noFill/>
          </a:ln>
          <a:effectLst>
            <a:outerShdw blurRad="310896" dist="10972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313432"/>
            <a:ext cx="7351776" cy="338328"/>
          </a:xfrm>
          <a:prstGeom prst="roundRect">
            <a:avLst>
              <a:gd name="adj" fmla="val 50000"/>
            </a:avLst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240944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0944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3584" y="240944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15768" y="2372868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2363724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9A9F"/>
                </a:solidFill>
                <a:latin typeface="Segoe UI"/>
                <a:ea typeface="微软雅黑"/>
              </a:rPr>
              <a:t>encore.local/seat?group=g-5d10283082</a:t>
            </a:r>
          </a:p>
        </p:txBody>
      </p:sp>
      <p:pic>
        <p:nvPicPr>
          <p:cNvPr id="12" name="Picture 11" descr="group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51760"/>
            <a:ext cx="7351776" cy="413537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321040" y="2551176"/>
            <a:ext cx="82296" cy="8412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48716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链接即入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898648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复制邀请链接发给好友，打开即可认领座位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849624"/>
            <a:ext cx="82296" cy="8412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3785616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统一结算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197096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发起人一次付款，三步进度条全程可见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5148072"/>
            <a:ext cx="82296" cy="841248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7072" y="5084064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D1D1F"/>
                </a:solidFill>
                <a:latin typeface="微软雅黑"/>
                <a:ea typeface="微软雅黑"/>
              </a:rPr>
              <a:t>持票人机制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95544"/>
            <a:ext cx="3154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出票后票随人走，各自在票夹见到自己的票，也只能退自己的票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17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8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8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28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28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28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28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42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42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42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56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56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56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0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70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70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371600"/>
            <a:ext cx="4572000" cy="4572000"/>
          </a:xfrm>
          <a:prstGeom prst="ellipse">
            <a:avLst/>
          </a:prstGeom>
          <a:solidFill>
            <a:srgbClr val="E50914">
              <a:alpha val="40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产品功能 ⑤ 退款工作流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该自动的自动，该把关的把关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95728"/>
            <a:ext cx="5074920" cy="27432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52728" y="26974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50914"/>
                </a:solidFill>
                <a:latin typeface="微软雅黑"/>
                <a:ea typeface="微软雅黑"/>
              </a:rPr>
              <a:t>开演 2 小时前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3200400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D1D1F"/>
                </a:solidFill>
                <a:latin typeface="微软雅黑"/>
                <a:ea typeface="微软雅黑"/>
              </a:rPr>
              <a:t>自助秒退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4041648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E6E73"/>
                </a:solidFill>
                <a:latin typeface="微软雅黑"/>
                <a:ea typeface="微软雅黑"/>
              </a:rPr>
              <a:t>无需人工介入
票即作废，座位即时释放回库存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395728"/>
            <a:ext cx="5074920" cy="27432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6974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50914"/>
                </a:solidFill>
                <a:latin typeface="微软雅黑"/>
                <a:ea typeface="微软雅黑"/>
              </a:rPr>
              <a:t>临近开演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3200400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D1D1F"/>
                </a:solidFill>
                <a:latin typeface="微软雅黑"/>
                <a:ea typeface="微软雅黑"/>
              </a:rPr>
              <a:t>人工审核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4041648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6E6E73"/>
                </a:solidFill>
                <a:latin typeface="微软雅黑"/>
                <a:ea typeface="微软雅黑"/>
              </a:rPr>
              <a:t>提交申请 → 管理员批准 / 驳回
附审核意见，已核销不可退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支持整单退与按票退 —— </a:t>
            </a:r>
            <a:r>
              <a:rPr sz="1500" b="1">
                <a:solidFill>
                  <a:srgbClr val="1D1D1F"/>
                </a:solidFill>
                <a:latin typeface="微软雅黑"/>
                <a:ea typeface="微软雅黑"/>
              </a:rPr>
              <a:t>拼座成员只能退自己的那张。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18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7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4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4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4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34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51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1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1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51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68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产品功能 ⑥ 运营控制台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从排片到对账，一站完成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31720"/>
            <a:ext cx="3611880" cy="2452306"/>
          </a:xfrm>
          <a:prstGeom prst="roundRect">
            <a:avLst>
              <a:gd name="adj" fmla="val 4500"/>
            </a:avLst>
          </a:prstGeom>
          <a:solidFill>
            <a:srgbClr val="1D1D1F"/>
          </a:solidFill>
          <a:ln>
            <a:noFill/>
          </a:ln>
          <a:effectLst>
            <a:outerShdw blurRad="310896" dist="10972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359152"/>
            <a:ext cx="3557016" cy="338328"/>
          </a:xfrm>
          <a:prstGeom prst="roundRect">
            <a:avLst>
              <a:gd name="adj" fmla="val 50000"/>
            </a:avLst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245516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5516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3584" y="245516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8" y="2418588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" y="2409444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9A9F"/>
                </a:solidFill>
                <a:latin typeface="Segoe UI"/>
                <a:ea typeface="微软雅黑"/>
              </a:rPr>
              <a:t>encore.local/admin/dashboard</a:t>
            </a:r>
          </a:p>
        </p:txBody>
      </p:sp>
      <p:pic>
        <p:nvPicPr>
          <p:cNvPr id="12" name="Picture 1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97480"/>
            <a:ext cx="3557016" cy="2000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4875466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</a:rPr>
              <a:t>实时数据看板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支付 / 退款发生时自动刷新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331720"/>
            <a:ext cx="3611880" cy="2452306"/>
          </a:xfrm>
          <a:prstGeom prst="roundRect">
            <a:avLst>
              <a:gd name="adj" fmla="val 4500"/>
            </a:avLst>
          </a:prstGeom>
          <a:solidFill>
            <a:srgbClr val="1D1D1F"/>
          </a:solidFill>
          <a:ln>
            <a:noFill/>
          </a:ln>
          <a:effectLst>
            <a:outerShdw blurRad="310896" dist="10972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0832" y="2359152"/>
            <a:ext cx="3557016" cy="338328"/>
          </a:xfrm>
          <a:prstGeom prst="roundRect">
            <a:avLst>
              <a:gd name="adj" fmla="val 50000"/>
            </a:avLst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44568" y="245516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82312" y="245516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20056" y="245516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4860" y="2418588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4860" y="2409444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9A9F"/>
                </a:solidFill>
                <a:latin typeface="Segoe UI"/>
                <a:ea typeface="微软雅黑"/>
              </a:rPr>
              <a:t>encore.local/admin/finance</a:t>
            </a:r>
          </a:p>
        </p:txBody>
      </p:sp>
      <p:pic>
        <p:nvPicPr>
          <p:cNvPr id="21" name="Picture 20" descr="fi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697480"/>
            <a:ext cx="3557016" cy="200082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43400" y="4875466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</a:rPr>
              <a:t>票房财务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时间 × 类别 × 演出三维对账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2331720"/>
            <a:ext cx="3611880" cy="2452306"/>
          </a:xfrm>
          <a:prstGeom prst="roundRect">
            <a:avLst>
              <a:gd name="adj" fmla="val 4500"/>
            </a:avLst>
          </a:prstGeom>
          <a:solidFill>
            <a:srgbClr val="1D1D1F"/>
          </a:solidFill>
          <a:ln>
            <a:noFill/>
          </a:ln>
          <a:effectLst>
            <a:outerShdw blurRad="310896" dist="10972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47304" y="2359152"/>
            <a:ext cx="3557016" cy="338328"/>
          </a:xfrm>
          <a:prstGeom prst="roundRect">
            <a:avLst>
              <a:gd name="adj" fmla="val 50000"/>
            </a:avLst>
          </a:prstGeom>
          <a:solidFill>
            <a:srgbClr val="2D2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1040" y="245516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58784" y="245516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96528" y="245516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71332" y="2418588"/>
            <a:ext cx="3108960" cy="192024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1332" y="2409444"/>
            <a:ext cx="3108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9A9A9F"/>
                </a:solidFill>
                <a:latin typeface="Segoe UI"/>
                <a:ea typeface="微软雅黑"/>
              </a:rPr>
              <a:t>encore.local/admin/audit</a:t>
            </a:r>
          </a:p>
        </p:txBody>
      </p:sp>
      <p:pic>
        <p:nvPicPr>
          <p:cNvPr id="30" name="Picture 29" descr="au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697480"/>
            <a:ext cx="3557016" cy="200082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19872" y="4875466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</a:rPr>
              <a:t>操作审计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00" b="0">
                <a:solidFill>
                  <a:srgbClr val="6E6E73"/>
                </a:solidFill>
                <a:latin typeface="微软雅黑"/>
                <a:ea typeface="微软雅黑"/>
              </a:rPr>
              <a:t>后台每次变更自动留痕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19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0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40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40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40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0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0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0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40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40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40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60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60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60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60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60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60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60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60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600"/>
                      </p:stCondLst>
                      <p:childTnLst>
                        <p:par>
                          <p:cTn id="9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2" dur="45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800"/>
                      </p:stCondLst>
                      <p:childTnLst>
                        <p:par>
                          <p:cTn id="10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450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7" dur="45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800"/>
                      </p:stCondLst>
                      <p:childTnLst>
                        <p:par>
                          <p:cTn id="10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2" dur="45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800"/>
                      </p:stCondLst>
                      <p:childTnLst>
                        <p:par>
                          <p:cTn id="1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450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7" dur="45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800"/>
                      </p:stCondLst>
                      <p:childTnLst>
                        <p:par>
                          <p:cTn id="1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450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2" dur="45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80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450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7" dur="45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800"/>
                      </p:stCondLst>
                      <p:childTnLst>
                        <p:par>
                          <p:cTn id="1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2" dur="45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80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450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7" dur="45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800"/>
                      </p:stCondLst>
                      <p:childTnLst>
                        <p:par>
                          <p:cTn id="1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450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2" dur="45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800"/>
                      </p:stCondLst>
                      <p:childTnLst>
                        <p:par>
                          <p:cTn id="1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6" dur="450"/>
                                  <p:tgtEl>
                                    <p:spTgt spid="3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7" dur="450" fill="hold"/>
                                  <p:tgtEl>
                                    <p:spTgt spid="3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产品使用说明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五步，从浏览到拿票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1993392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199339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登录 / 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2" y="2651760"/>
            <a:ext cx="2011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651760"/>
            <a:ext cx="1993392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651760"/>
            <a:ext cx="199339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挑演出选场次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2651760"/>
            <a:ext cx="2011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2651760"/>
            <a:ext cx="1993392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651760"/>
            <a:ext cx="199339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选座或选区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2651760"/>
            <a:ext cx="2011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651760"/>
            <a:ext cx="1993392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651760"/>
            <a:ext cx="199339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支付出票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2" y="2651760"/>
            <a:ext cx="2011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5480" y="2651760"/>
            <a:ext cx="1993392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2651760"/>
            <a:ext cx="1993392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票夹 / 检票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3931920"/>
            <a:ext cx="3108960" cy="1554480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133087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</a:rPr>
              <a:t>观众端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55371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50914"/>
                </a:solidFill>
                <a:latin typeface="Consolas"/>
                <a:ea typeface="微软雅黑"/>
              </a:rPr>
              <a:t>user / 123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5029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E6E73"/>
                </a:solidFill>
                <a:latin typeface="微软雅黑"/>
                <a:ea typeface="微软雅黑"/>
              </a:rPr>
              <a:t>浏览 · 选座 · 拼座 · 退票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36008" y="3931920"/>
            <a:ext cx="3108960" cy="1554480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0328" y="4133087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</a:rPr>
              <a:t>管理端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0328" y="455371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50914"/>
                </a:solidFill>
                <a:latin typeface="Consolas"/>
                <a:ea typeface="微软雅黑"/>
              </a:rPr>
              <a:t>admin / 123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5029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E6E73"/>
                </a:solidFill>
                <a:latin typeface="微软雅黑"/>
                <a:ea typeface="微软雅黑"/>
              </a:rPr>
              <a:t>排片 · 订单 · 财务 · 审核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46136" y="3931920"/>
            <a:ext cx="3108960" cy="1554480"/>
          </a:xfrm>
          <a:prstGeom prst="roundRect">
            <a:avLst>
              <a:gd name="adj" fmla="val 9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4133087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</a:rPr>
              <a:t>检票端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455371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E50914"/>
                </a:solidFill>
                <a:latin typeface="Consolas"/>
                <a:ea typeface="微软雅黑"/>
              </a:rPr>
              <a:t>checker / 123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502920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>
                <a:solidFill>
                  <a:srgbClr val="6E6E73"/>
                </a:solidFill>
                <a:latin typeface="微软雅黑"/>
                <a:ea typeface="微软雅黑"/>
              </a:rPr>
              <a:t>扫码核销 · 场次绑定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6E73"/>
                </a:solidFill>
                <a:latin typeface="微软雅黑"/>
                <a:ea typeface="微软雅黑"/>
              </a:rPr>
              <a:t>全程中英双语 · 无需任何使用培训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20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1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2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2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3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4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4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55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66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66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77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88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88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99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10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10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121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121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121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1210"/>
                      </p:stCondLst>
                      <p:childTnLst>
                        <p:par>
                          <p:cTn id="9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450"/>
                                  <p:tgtEl>
                                    <p:spTgt spid="2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2" dur="450" fill="hold"/>
                                  <p:tgtEl>
                                    <p:spTgt spid="2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1320"/>
                      </p:stCondLst>
                      <p:childTnLst>
                        <p:par>
                          <p:cTn id="10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6" dur="450"/>
                                  <p:tgtEl>
                                    <p:spTgt spid="2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07" dur="450" fill="hold"/>
                                  <p:tgtEl>
                                    <p:spTgt spid="2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1320"/>
                      </p:stCondLst>
                      <p:childTnLst>
                        <p:par>
                          <p:cTn id="10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450"/>
                                  <p:tgtEl>
                                    <p:spTgt spid="2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2" dur="450" fill="hold"/>
                                  <p:tgtEl>
                                    <p:spTgt spid="2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1320"/>
                      </p:stCondLst>
                      <p:childTnLst>
                        <p:par>
                          <p:cTn id="1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6" dur="450"/>
                                  <p:tgtEl>
                                    <p:spTgt spid="2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17" dur="450" fill="hold"/>
                                  <p:tgtEl>
                                    <p:spTgt spid="2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1320"/>
                      </p:stCondLst>
                      <p:childTnLst>
                        <p:par>
                          <p:cTn id="1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450"/>
                                  <p:tgtEl>
                                    <p:spTgt spid="2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2" dur="450" fill="hold"/>
                                  <p:tgtEl>
                                    <p:spTgt spid="2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1430"/>
                      </p:stCondLst>
                      <p:childTnLst>
                        <p:par>
                          <p:cTn id="1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6" dur="450"/>
                                  <p:tgtEl>
                                    <p:spTgt spid="2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7" dur="450" fill="hold"/>
                                  <p:tgtEl>
                                    <p:spTgt spid="2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1430"/>
                      </p:stCondLst>
                      <p:childTnLst>
                        <p:par>
                          <p:cTn id="1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2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2" dur="450" fill="hold"/>
                                  <p:tgtEl>
                                    <p:spTgt spid="2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1430"/>
                      </p:stCondLst>
                      <p:childTnLst>
                        <p:par>
                          <p:cTn id="1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6" dur="450"/>
                                  <p:tgtEl>
                                    <p:spTgt spid="3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37" dur="450" fill="hold"/>
                                  <p:tgtEl>
                                    <p:spTgt spid="3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1430"/>
                      </p:stCondLst>
                      <p:childTnLst>
                        <p:par>
                          <p:cTn id="1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450"/>
                                  <p:tgtEl>
                                    <p:spTgt spid="3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2" dur="450" fill="hold"/>
                                  <p:tgtEl>
                                    <p:spTgt spid="3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1540"/>
                      </p:stCondLst>
                      <p:childTnLst>
                        <p:par>
                          <p:cTn id="1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6" dur="450"/>
                                  <p:tgtEl>
                                    <p:spTgt spid="3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47" dur="450" fill="hold"/>
                                  <p:tgtEl>
                                    <p:spTgt spid="3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核心技术点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经得起并发的四层架构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286000"/>
            <a:ext cx="10058400" cy="713232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2286000"/>
            <a:ext cx="73152" cy="7132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286000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Vue 3 + TypeScript · Element Plus · three.js · STOMP 实时订阅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127248"/>
            <a:ext cx="10058400" cy="713232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127248"/>
            <a:ext cx="73152" cy="7132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127248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接入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127248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Sa-Token 统一鉴权闸门 · 四角色路由 · 操作审计拦截器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3968496"/>
            <a:ext cx="10058400" cy="713232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1560" y="3968496"/>
            <a:ext cx="73152" cy="7132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968496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968496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Spring Boot 3 · 13 个业务服务 · WebSocket 事件广播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809744"/>
            <a:ext cx="10058400" cy="713232"/>
          </a:xfrm>
          <a:prstGeom prst="roundRect">
            <a:avLst>
              <a:gd name="adj" fmla="val 12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4809744"/>
            <a:ext cx="73152" cy="713232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809744"/>
            <a:ext cx="14630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D1D1F"/>
                </a:solidFill>
                <a:latin typeface="微软雅黑"/>
                <a:ea typeface="微软雅黑"/>
              </a:rPr>
              <a:t>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809744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MySQL · Flyway V1–V8 版本演进 · Redis 座位锁 / 拼座会话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</a:rPr>
              <a:t>防超卖三件套：</a:t>
            </a: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Redis 15 分钟座位锁 · 区域库存原子扣减 · 事务回滚自动释放锁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21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8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28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2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2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42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42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56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56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56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56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70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70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70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700"/>
                      </p:stCondLst>
                      <p:childTnLst>
                        <p:par>
                          <p:cTn id="8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2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840"/>
                      </p:stCondLst>
                      <p:childTnLst>
                        <p:par>
                          <p:cTn id="9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6" dur="450"/>
                                  <p:tgtEl>
                                    <p:spTgt spid="2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97" dur="450" fill="hold"/>
                                  <p:tgtEl>
                                    <p:spTgt spid="2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926080" y="-457200"/>
            <a:ext cx="6400800" cy="64008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用数字说话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606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72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111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13048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微软雅黑"/>
                <a:ea typeface="微软雅黑"/>
              </a:rPr>
              <a:t>项单元测试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514600"/>
            <a:ext cx="2606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72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813048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微软雅黑"/>
                <a:ea typeface="微软雅黑"/>
              </a:rPr>
              <a:t>个 API 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514600"/>
            <a:ext cx="2606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72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813048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微软雅黑"/>
                <a:ea typeface="微软雅黑"/>
              </a:rPr>
              <a:t>张数据表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514600"/>
            <a:ext cx="26060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7200" b="0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Segoe UI Light"/>
                <a:ea typeface="微软雅黑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813048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D1D1F"/>
                </a:solidFill>
                <a:latin typeface="微软雅黑"/>
                <a:ea typeface="微软雅黑"/>
              </a:rPr>
              <a:t>个数据库版本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SRS · 设计说明书 · 用户手册 · 测试报告 —— 文档与代码同步交付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22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6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2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2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4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8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64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64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80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80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96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3200400"/>
            <a:ext cx="5486400" cy="5486400"/>
          </a:xfrm>
          <a:prstGeom prst="ellipse">
            <a:avLst/>
          </a:prstGeom>
          <a:solidFill>
            <a:srgbClr val="E50914">
              <a:alpha val="4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程序展示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200" b="0">
                <a:solidFill>
                  <a:srgbClr val="1D1D1F"/>
                </a:solidFill>
                <a:latin typeface="微软雅黑 Light"/>
                <a:ea typeface="微软雅黑 Light"/>
              </a:rPr>
              <a:t>现在，</a:t>
            </a:r>
            <a:r>
              <a:rPr sz="52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微软雅黑"/>
                <a:ea typeface="微软雅黑"/>
              </a:rPr>
              <a:t>看真实系统。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977639"/>
            <a:ext cx="1938528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93852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双屏实时同步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7208" y="3977639"/>
            <a:ext cx="2194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26664" y="3977639"/>
            <a:ext cx="1938528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3977639"/>
            <a:ext cx="193852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拼座邀请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5192" y="3977639"/>
            <a:ext cx="2194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84648" y="3977639"/>
            <a:ext cx="1938528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3977639"/>
            <a:ext cx="193852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支付出票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3977639"/>
            <a:ext cx="2194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42632" y="3977639"/>
            <a:ext cx="1938528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2" y="3977639"/>
            <a:ext cx="193852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扫码核销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977639"/>
            <a:ext cx="219456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5091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0616" y="3977639"/>
            <a:ext cx="1938528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6E6E9"/>
            </a:solidFill>
          </a:ln>
          <a:effectLst>
            <a:outerShdw blurRad="109728" dist="36576" dir="5400000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0616" y="3977639"/>
            <a:ext cx="193852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D1D1F"/>
                </a:solidFill>
                <a:latin typeface="微软雅黑"/>
                <a:ea typeface="微软雅黑"/>
              </a:rPr>
              <a:t>看板刷新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两台浏览器并排 —— 左边选座，右边的座位图同一秒变灰。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23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5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30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45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60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60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75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90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90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105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120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20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135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1500"/>
                      </p:stCondLst>
                      <p:childTnLst>
                        <p:par>
                          <p:cTn id="7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6" dur="450"/>
                                  <p:tgtEl>
                                    <p:spTgt spid="1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7" dur="450" fill="hold"/>
                                  <p:tgtEl>
                                    <p:spTgt spid="1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1500"/>
                      </p:stCondLst>
                      <p:childTnLst>
                        <p:par>
                          <p:cTn id="7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450"/>
                                  <p:tgtEl>
                                    <p:spTgt spid="1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2" dur="450" fill="hold"/>
                                  <p:tgtEl>
                                    <p:spTgt spid="1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1650"/>
                      </p:stCondLst>
                      <p:childTnLst>
                        <p:par>
                          <p:cTn id="8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6" dur="450"/>
                                  <p:tgtEl>
                                    <p:spTgt spid="2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87" dur="450" fill="hold"/>
                                  <p:tgtEl>
                                    <p:spTgt spid="2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43000" y="-1600200"/>
            <a:ext cx="5943600" cy="5943600"/>
          </a:xfrm>
          <a:prstGeom prst="ellipse">
            <a:avLst/>
          </a:prstGeom>
          <a:solidFill>
            <a:srgbClr val="E50914">
              <a:alpha val="50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03 产品展示 · 产品愿景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607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4400" b="0">
                <a:solidFill>
                  <a:srgbClr val="1D1D1F"/>
                </a:solidFill>
                <a:latin typeface="微软雅黑 Light"/>
                <a:ea typeface="微软雅黑 Light"/>
              </a:rPr>
              <a:t>让每一个小场馆，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4400" b="0">
                <a:solidFill>
                  <a:srgbClr val="1D1D1F"/>
                </a:solidFill>
                <a:latin typeface="微软雅黑 Light"/>
                <a:ea typeface="微软雅黑 Light"/>
              </a:rPr>
              <a:t>都能办一场</a:t>
            </a:r>
            <a:r>
              <a:rPr sz="4400" b="1">
                <a:gradFill>
                  <a:gsLst>
                    <a:gs pos="0">
                      <a:srgbClr val="E50914"/>
                    </a:gs>
                    <a:gs pos="100000">
                      <a:srgbClr val="FF6B47"/>
                    </a:gs>
                  </a:gsLst>
                  <a:lin ang="2700000" scaled="0"/>
                </a:gradFill>
                <a:latin typeface="微软雅黑"/>
                <a:ea typeface="微软雅黑"/>
              </a:rPr>
              <a:t>不输大平台</a:t>
            </a:r>
            <a:r>
              <a:rPr sz="4400" b="0">
                <a:solidFill>
                  <a:srgbClr val="1D1D1F"/>
                </a:solidFill>
                <a:latin typeface="微软雅黑 Light"/>
                <a:ea typeface="微软雅黑 Light"/>
              </a:rPr>
              <a:t>的演出。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463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</a:rPr>
              <a:t>下一步：多租户 SaaS 化 · 接入真实支付与短信 · 移动端检票一体机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24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4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85455" y="-1280160"/>
            <a:ext cx="4754880" cy="4754880"/>
          </a:xfrm>
          <a:prstGeom prst="ellipse">
            <a:avLst/>
          </a:prstGeom>
          <a:solidFill>
            <a:srgbClr val="E50914">
              <a:alpha val="4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0" y="91440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30000" b="1">
                <a:solidFill>
                  <a:srgbClr val="F0F0F2"/>
                </a:solidFill>
                <a:latin typeface="Segoe UI Light"/>
                <a:ea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>
                <a:solidFill>
                  <a:srgbClr val="E50914"/>
                </a:solidFill>
                <a:latin typeface="Segoe UI Light"/>
                <a:ea typeface="微软雅黑"/>
              </a:rPr>
              <a:t>04  </a:t>
            </a:r>
            <a:r>
              <a:rPr sz="4000" b="0">
                <a:solidFill>
                  <a:srgbClr val="1D1D1F"/>
                </a:solidFill>
                <a:latin typeface="微软雅黑 Light"/>
                <a:ea typeface="微软雅黑 Light"/>
              </a:rPr>
              <a:t>总结体会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94760"/>
            <a:ext cx="566928" cy="381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005072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6E6E73"/>
                </a:solidFill>
                <a:latin typeface="微软雅黑"/>
                <a:ea typeface="微软雅黑"/>
              </a:rPr>
              <a:t>交付物 · 工程体会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25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8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36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4023360"/>
            <a:ext cx="4572000" cy="4572000"/>
          </a:xfrm>
          <a:prstGeom prst="ellipse">
            <a:avLst/>
          </a:prstGeom>
          <a:solidFill>
            <a:srgbClr val="E50914">
              <a:alpha val="3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ENCORE</a:t>
            </a:r>
            <a:r>
              <a:rPr sz="1800" b="1">
                <a:solidFill>
                  <a:srgbClr val="E50914"/>
                </a:solidFill>
                <a:latin typeface="微软雅黑"/>
                <a:ea typeface="微软雅黑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042415"/>
            <a:ext cx="7315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50914"/>
                </a:solidFill>
                <a:latin typeface="微软雅黑"/>
                <a:ea typeface="微软雅黑"/>
              </a:rPr>
              <a:t>04 总结体会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1D1D1F"/>
                </a:solidFill>
                <a:latin typeface="微软雅黑 Light"/>
                <a:ea typeface="微软雅黑 Light"/>
              </a:rPr>
              <a:t>交付的不止是代码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4297680" cy="3566160"/>
          </a:xfrm>
          <a:prstGeom prst="roundRect">
            <a:avLst>
              <a:gd name="adj" fmla="val 5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>
                <a:solidFill>
                  <a:srgbClr val="1D1D1F"/>
                </a:solidFill>
                <a:latin typeface="微软雅黑"/>
                <a:ea typeface="微软雅黑"/>
              </a:rPr>
              <a:t>完整交付物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3749039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可运行系统（前后端 + 数据库）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Docker Compose 一键部署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软件需求规格说明书（SRS）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软件设计说明书（SDS）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用户手册 · 测试报告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31 张 UML · 每日开发日志</a:t>
            </a:r>
          </a:p>
        </p:txBody>
      </p:sp>
      <p:sp>
        <p:nvSpPr>
          <p:cNvPr id="9" name="Rectangle 8"/>
          <p:cNvSpPr/>
          <p:nvPr/>
        </p:nvSpPr>
        <p:spPr>
          <a:xfrm>
            <a:off x="5349240" y="2404872"/>
            <a:ext cx="82296" cy="914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0" y="2331720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真相源原则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60" y="2788920"/>
            <a:ext cx="5989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每类数据只允许一个权威来源 —— 并发正确性由此而来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3630168"/>
            <a:ext cx="82296" cy="914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3557016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纵深防御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4014216"/>
            <a:ext cx="5989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HTTP 闸门 + 服务层双重校验，漏掉一处也不裸奔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4855464"/>
            <a:ext cx="82296" cy="914400"/>
          </a:xfrm>
          <a:prstGeom prst="rect">
            <a:avLst/>
          </a:prstGeom>
          <a:solidFill>
            <a:srgbClr val="E50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4782312"/>
            <a:ext cx="6035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1D1D1F"/>
                </a:solidFill>
                <a:latin typeface="微软雅黑"/>
                <a:ea typeface="微软雅黑"/>
              </a:rPr>
              <a:t>文档驱动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5239512"/>
            <a:ext cx="5989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6E6E73"/>
                </a:solidFill>
                <a:latin typeface="微软雅黑"/>
                <a:ea typeface="微软雅黑"/>
              </a:rPr>
              <a:t>每日开发日志，71 次提交全程可回溯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26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14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280"/>
                      </p:stCondLst>
                      <p:childTnLst>
                        <p:par>
                          <p:cTn id="1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450"/>
                                  <p:tgtEl>
                                    <p:spTgt spid="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7" dur="450" fill="hold"/>
                                  <p:tgtEl>
                                    <p:spTgt spid="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80"/>
                      </p:stCondLst>
                      <p:childTnLst>
                        <p:par>
                          <p:cTn id="1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50"/>
                                  <p:tgtEl>
                                    <p:spTgt spid="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2" dur="450" fill="hold"/>
                                  <p:tgtEl>
                                    <p:spTgt spid="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280"/>
                      </p:stCondLst>
                      <p:childTnLst>
                        <p:par>
                          <p:cTn id="2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8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27" dur="450" fill="hold"/>
                                  <p:tgtEl>
                                    <p:spTgt spid="8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420"/>
                      </p:stCondLst>
                      <p:childTnLst>
                        <p:par>
                          <p:cTn id="2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" dur="450"/>
                                  <p:tgtEl>
                                    <p:spTgt spid="9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2" dur="450" fill="hold"/>
                                  <p:tgtEl>
                                    <p:spTgt spid="9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420"/>
                      </p:stCondLst>
                      <p:childTnLst>
                        <p:par>
                          <p:cTn id="3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450"/>
                                  <p:tgtEl>
                                    <p:spTgt spid="10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37" dur="450" fill="hold"/>
                                  <p:tgtEl>
                                    <p:spTgt spid="10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420"/>
                      </p:stCondLst>
                      <p:childTnLst>
                        <p:par>
                          <p:cTn id="3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450"/>
                                  <p:tgtEl>
                                    <p:spTgt spid="11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2" dur="450" fill="hold"/>
                                  <p:tgtEl>
                                    <p:spTgt spid="11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560"/>
                      </p:stCondLst>
                      <p:childTnLst>
                        <p:par>
                          <p:cTn id="4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2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47" dur="450" fill="hold"/>
                                  <p:tgtEl>
                                    <p:spTgt spid="1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560"/>
                      </p:stCondLst>
                      <p:childTnLst>
                        <p:par>
                          <p:cTn id="4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450"/>
                                  <p:tgtEl>
                                    <p:spTgt spid="1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2" dur="450" fill="hold"/>
                                  <p:tgtEl>
                                    <p:spTgt spid="1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560"/>
                      </p:stCondLst>
                      <p:childTnLst>
                        <p:par>
                          <p:cTn id="5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450"/>
                                  <p:tgtEl>
                                    <p:spTgt spid="1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57" dur="450" fill="hold"/>
                                  <p:tgtEl>
                                    <p:spTgt spid="1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700"/>
                      </p:stCondLst>
                      <p:childTnLst>
                        <p:par>
                          <p:cTn id="5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450"/>
                                  <p:tgtEl>
                                    <p:spTgt spid="15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2" dur="450" fill="hold"/>
                                  <p:tgtEl>
                                    <p:spTgt spid="15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700"/>
                      </p:stCondLst>
                      <p:childTnLst>
                        <p:par>
                          <p:cTn id="64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16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67" dur="450" fill="hold"/>
                                  <p:tgtEl>
                                    <p:spTgt spid="16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700"/>
                      </p:stCondLst>
                      <p:childTnLst>
                        <p:par>
                          <p:cTn id="6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450"/>
                                  <p:tgtEl>
                                    <p:spTgt spid="17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2" dur="450" fill="hold"/>
                                  <p:tgtEl>
                                    <p:spTgt spid="17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97480" y="-320040"/>
            <a:ext cx="6858000" cy="6858000"/>
          </a:xfrm>
          <a:prstGeom prst="ellipse">
            <a:avLst/>
          </a:prstGeom>
          <a:solidFill>
            <a:srgbClr val="E50914">
              <a:alpha val="4500"/>
            </a:srgbClr>
          </a:solidFill>
          <a:ln>
            <a:noFill/>
          </a:ln>
          <a:effectLst>
            <a:softEdge rad="82296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6000" b="0">
                <a:solidFill>
                  <a:srgbClr val="1D1D1F"/>
                </a:solidFill>
                <a:latin typeface="微软雅黑 Light"/>
                <a:ea typeface="微软雅黑 Light"/>
              </a:rPr>
              <a:t>谢谢。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690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400" b="1">
                <a:solidFill>
                  <a:srgbClr val="1D1D1F"/>
                </a:solidFill>
                <a:latin typeface="Segoe UI"/>
                <a:ea typeface="微软雅黑"/>
              </a:rPr>
              <a:t>ENCORE</a:t>
            </a:r>
            <a:r>
              <a:rPr sz="2400" b="1">
                <a:solidFill>
                  <a:srgbClr val="E50914"/>
                </a:solidFill>
                <a:latin typeface="Segoe UI"/>
                <a:ea typeface="微软雅黑"/>
              </a:rPr>
              <a:t>.</a:t>
            </a:r>
            <a:r>
              <a:rPr sz="1800" b="0">
                <a:solidFill>
                  <a:srgbClr val="6E6E73"/>
                </a:solidFill>
                <a:latin typeface="微软雅黑"/>
                <a:ea typeface="微软雅黑"/>
              </a:rPr>
              <a:t>  ·  欢迎指正与提问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8695" y="6382512"/>
            <a:ext cx="685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E6E73"/>
                </a:solidFill>
                <a:latin typeface="Segoe UI"/>
                <a:ea typeface="微软雅黑"/>
              </a:rPr>
              <a:t>27 — 27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p14:dur="450">
        <p:fade/>
      </p:transition>
    </mc:Choice>
    <mc:Fallback>
      <p:transition spd="fast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3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7" dur="450" fill="hold"/>
                                  <p:tgtEl>
                                    <p:spTgt spid="3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60"/>
                      </p:stCondLst>
                      <p:childTnLst>
                        <p:par>
                          <p:cTn id="9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50"/>
                                  <p:tgtEl>
                                    <p:spTgt spid="4"/>
                                  </p:tgtEl>
                                </p:cBhvr>
                              </p:animEffect>
                              <p:anim calcmode="lin" valueType="num">
                                <p:cBhvr additive="base">
                                  <p:cTn id="12" dur="450" fill="hold"/>
                                  <p:tgtEl>
                                    <p:spTgt spid="4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0.035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